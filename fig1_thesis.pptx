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795760" cy="50292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 i="0">
                <a:solidFill>
                  <a:srgbClr val="212529"/>
                </a:solidFill>
              </a:rPr>
              <a:t>A family score says "Knowledge: low."   But WHICH capacity is the bottleneck?</a:t>
            </a:r>
          </a:p>
        </p:txBody>
      </p:sp>
      <p:sp>
        <p:nvSpPr>
          <p:cNvPr id="3" name="Oval 2"/>
          <p:cNvSpPr/>
          <p:nvPr/>
        </p:nvSpPr>
        <p:spPr>
          <a:xfrm>
            <a:off x="182880" y="868680"/>
            <a:ext cx="2377440" cy="1463040"/>
          </a:xfrm>
          <a:prstGeom prst="ellipse">
            <a:avLst/>
          </a:prstGeom>
          <a:solidFill>
            <a:srgbClr val="E7F5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800" b="1" i="0">
                <a:solidFill>
                  <a:srgbClr val="1971C2"/>
                </a:solidFill>
              </a:rPr>
              <a:t>Q:  capital of</a:t>
            </a:r>
          </a:p>
          <a:p>
            <a:pPr algn="ctr"/>
            <a:r>
              <a:rPr sz="1800" b="1" i="0">
                <a:solidFill>
                  <a:srgbClr val="1971C2"/>
                </a:solidFill>
              </a:rPr>
              <a:t>Australia?</a:t>
            </a:r>
          </a:p>
          <a:p>
            <a:pPr algn="ctr"/>
            <a:r>
              <a:rPr sz="1800" b="1" i="0">
                <a:solidFill>
                  <a:srgbClr val="1971C2"/>
                </a:solidFill>
              </a:rPr>
              <a:t/>
            </a:r>
          </a:p>
          <a:p>
            <a:pPr algn="ctr"/>
            <a:r>
              <a:rPr sz="1800" b="1" i="0">
                <a:solidFill>
                  <a:srgbClr val="1971C2"/>
                </a:solidFill>
              </a:rPr>
              <a:t>Gold: Canberra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06040" y="1600200"/>
            <a:ext cx="274320" cy="0"/>
          </a:xfrm>
          <a:prstGeom prst="bentConnector3">
            <a:avLst/>
          </a:prstGeom>
          <a:ln w="28575">
            <a:solidFill>
              <a:srgbClr val="868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926080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0" i="1">
                <a:solidFill>
                  <a:srgbClr val="868E96"/>
                </a:solidFill>
              </a:rPr>
              <a:t>Model 1</a:t>
            </a:r>
          </a:p>
          <a:p>
            <a:pPr algn="ctr"/>
            <a:r>
              <a:rPr sz="1300" b="0" i="1">
                <a:solidFill>
                  <a:srgbClr val="868E96"/>
                </a:solidFill>
              </a:rPr>
              <a:t>[DROP PNG HERE]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74519"/>
            <a:ext cx="2240280" cy="457200"/>
          </a:xfrm>
          <a:prstGeom prst="roundRect">
            <a:avLst/>
          </a:prstGeom>
          <a:solidFill>
            <a:srgbClr val="FFE3E3"/>
          </a:solidFill>
          <a:ln w="19050">
            <a:solidFill>
              <a:srgbClr val="C9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C92A2A"/>
                </a:solidFill>
              </a:rPr>
              <a:t>"Sydney"  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0" i="1">
                <a:solidFill>
                  <a:srgbClr val="868E96"/>
                </a:solidFill>
              </a:rPr>
              <a:t>Model 2</a:t>
            </a:r>
          </a:p>
          <a:p>
            <a:pPr algn="ctr"/>
            <a:r>
              <a:rPr sz="1300" b="0" i="1">
                <a:solidFill>
                  <a:srgbClr val="868E96"/>
                </a:solidFill>
              </a:rPr>
              <a:t>[DROP PNG HERE]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874519"/>
            <a:ext cx="2240280" cy="457200"/>
          </a:xfrm>
          <a:prstGeom prst="roundRect">
            <a:avLst/>
          </a:prstGeom>
          <a:solidFill>
            <a:srgbClr val="FFE3E3"/>
          </a:solidFill>
          <a:ln w="19050">
            <a:solidFill>
              <a:srgbClr val="C9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C92A2A"/>
                </a:solidFill>
              </a:rPr>
              <a:t>"Sydney"  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0" i="1">
                <a:solidFill>
                  <a:srgbClr val="868E96"/>
                </a:solidFill>
              </a:rPr>
              <a:t>Model 3</a:t>
            </a:r>
          </a:p>
          <a:p>
            <a:pPr algn="ctr"/>
            <a:r>
              <a:rPr sz="1300" b="0" i="1">
                <a:solidFill>
                  <a:srgbClr val="868E96"/>
                </a:solidFill>
              </a:rPr>
              <a:t>[DROP PNG HERE]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1874519"/>
            <a:ext cx="2240280" cy="45720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2B8A3E"/>
                </a:solidFill>
              </a:rPr>
              <a:t>"Canberra"  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0" i="1">
                <a:solidFill>
                  <a:srgbClr val="868E96"/>
                </a:solidFill>
              </a:rPr>
              <a:t>Model 4</a:t>
            </a:r>
          </a:p>
          <a:p>
            <a:pPr algn="ctr"/>
            <a:r>
              <a:rPr sz="1300" b="0" i="1">
                <a:solidFill>
                  <a:srgbClr val="868E96"/>
                </a:solidFill>
              </a:rPr>
              <a:t>[DROP PNG HERE]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1874519"/>
            <a:ext cx="2240280" cy="45720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2B8A3E"/>
                </a:solidFill>
              </a:rPr>
              <a:t>"Canberra" 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468880"/>
            <a:ext cx="11795760" cy="411480"/>
          </a:xfrm>
          <a:prstGeom prst="roundRect">
            <a:avLst/>
          </a:prstGeom>
          <a:solidFill>
            <a:srgbClr val="FFE0EC"/>
          </a:solidFill>
          <a:ln w="19050">
            <a:solidFill>
              <a:srgbClr val="D63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D6336C"/>
                </a:solidFill>
              </a:rPr>
              <a:t>Why do Models 1 &amp; 2 fail?  Three different atomic capacities → three different causes 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3017520"/>
            <a:ext cx="3904487" cy="1828800"/>
          </a:xfrm>
          <a:prstGeom prst="roundRect">
            <a:avLst/>
          </a:prstGeom>
          <a:solidFill>
            <a:srgbClr val="E7F5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063240"/>
            <a:ext cx="37216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971C2"/>
                </a:solidFill>
              </a:rPr>
              <a:t>①  Knowledge Surfacing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474720"/>
            <a:ext cx="14630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1">
                <a:solidFill>
                  <a:srgbClr val="868E96"/>
                </a:solidFill>
              </a:rPr>
              <a:t>[PIC: empty drawer / 💭]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3520440"/>
            <a:ext cx="2075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971C2"/>
                </a:solidFill>
              </a:rPr>
              <a:t>The model never reliably</a:t>
            </a:r>
          </a:p>
          <a:p>
            <a:pPr algn="l"/>
            <a:r>
              <a:rPr sz="1400" b="0" i="0">
                <a:solidFill>
                  <a:srgbClr val="1971C2"/>
                </a:solidFill>
              </a:rPr>
              <a:t>stored this fact.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0"/>
            <a:ext cx="372160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Probe pair:  (no-hint  vs.  fact-in-context)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7" y="3017520"/>
            <a:ext cx="3904487" cy="182880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7" y="3063240"/>
            <a:ext cx="37216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048E8"/>
                </a:solidFill>
              </a:rPr>
              <a:t>②  Paraphrase Robustness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3474720"/>
            <a:ext cx="14630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1">
                <a:solidFill>
                  <a:srgbClr val="868E96"/>
                </a:solidFill>
              </a:rPr>
              <a:t>[PIC: maze / shuffled words]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3520440"/>
            <a:ext cx="2075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048E8"/>
                </a:solidFill>
              </a:rPr>
              <a:t>Knows it under one phrasing,</a:t>
            </a:r>
          </a:p>
          <a:p>
            <a:pPr algn="l"/>
            <a:r>
              <a:rPr sz="1400" b="0" i="0">
                <a:solidFill>
                  <a:srgbClr val="7048E8"/>
                </a:solidFill>
              </a:rPr>
              <a:t>fails on another.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7" y="4572000"/>
            <a:ext cx="372160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Probe pair:  (original  vs.  paraphrased)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5" y="3017520"/>
            <a:ext cx="3904487" cy="1828800"/>
          </a:xfrm>
          <a:prstGeom prst="roundRect">
            <a:avLst/>
          </a:prstGeom>
          <a:solidFill>
            <a:srgbClr val="FFE0EC"/>
          </a:solidFill>
          <a:ln w="19050">
            <a:solidFill>
              <a:srgbClr val="D63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3063240"/>
            <a:ext cx="37216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6336C"/>
                </a:solidFill>
              </a:rPr>
              <a:t>③  Wrong-Claim Robustness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1895" y="3474720"/>
            <a:ext cx="14630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1">
                <a:solidFill>
                  <a:srgbClr val="868E96"/>
                </a:solidFill>
              </a:rPr>
              <a:t>[PIC: megaphone / trickster]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6375" y="3520440"/>
            <a:ext cx="2075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336C"/>
                </a:solidFill>
              </a:rPr>
              <a:t>Prompt plants a wrong claim,</a:t>
            </a:r>
          </a:p>
          <a:p>
            <a:pPr algn="l"/>
            <a:r>
              <a:rPr sz="1400" b="0" i="0">
                <a:solidFill>
                  <a:srgbClr val="D6336C"/>
                </a:solidFill>
              </a:rPr>
              <a:t>model goes along.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4572000"/>
            <a:ext cx="372160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Probe pair:  (clean  vs.  wrong-claim planted)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35124" y="4864608"/>
            <a:ext cx="0" cy="192024"/>
          </a:xfrm>
          <a:prstGeom prst="bentConnector3">
            <a:avLst/>
          </a:prstGeom>
          <a:ln w="34925">
            <a:solidFill>
              <a:srgbClr val="2B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1051" y="4864608"/>
            <a:ext cx="0" cy="192024"/>
          </a:xfrm>
          <a:prstGeom prst="bentConnector3">
            <a:avLst/>
          </a:prstGeom>
          <a:ln w="34925">
            <a:solidFill>
              <a:srgbClr val="2B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126979" y="4864608"/>
            <a:ext cx="0" cy="192024"/>
          </a:xfrm>
          <a:prstGeom prst="bentConnector3">
            <a:avLst/>
          </a:prstGeom>
          <a:ln w="34925">
            <a:solidFill>
              <a:srgbClr val="2B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82880" y="5074920"/>
            <a:ext cx="3904487" cy="109728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5120640"/>
            <a:ext cx="37216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3E"/>
                </a:solidFill>
              </a:rPr>
              <a:t>Repair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394960"/>
            <a:ext cx="8686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[PIC:</a:t>
            </a:r>
          </a:p>
          <a:p>
            <a:pPr algn="ctr"/>
            <a:r>
              <a:rPr sz="1100" b="0" i="1">
                <a:solidFill>
                  <a:srgbClr val="868E96"/>
                </a:solidFill>
              </a:rPr>
              <a:t>📚 RAG]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440680"/>
            <a:ext cx="2715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3E"/>
                </a:solidFill>
              </a:rPr>
              <a:t>Add the fact via retrieval</a:t>
            </a:r>
          </a:p>
          <a:p>
            <a:pPr algn="l"/>
            <a:r>
              <a:rPr sz="1400" b="1" i="0">
                <a:solidFill>
                  <a:srgbClr val="2B8A3E"/>
                </a:solidFill>
              </a:rPr>
              <a:t>or targeted fine-tuning.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78807" y="5074920"/>
            <a:ext cx="3904487" cy="109728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0247" y="5120640"/>
            <a:ext cx="37216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3E"/>
                </a:solidFill>
              </a:rPr>
              <a:t>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15968" y="5394960"/>
            <a:ext cx="8686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[PIC:</a:t>
            </a:r>
          </a:p>
          <a:p>
            <a:pPr algn="ctr"/>
            <a:r>
              <a:rPr sz="1100" b="0" i="1">
                <a:solidFill>
                  <a:srgbClr val="868E96"/>
                </a:solidFill>
              </a:rPr>
              <a:t>🔄 augment]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6088" y="5440680"/>
            <a:ext cx="2715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3E"/>
                </a:solidFill>
              </a:rPr>
              <a:t>Paraphrase-augmented</a:t>
            </a:r>
          </a:p>
          <a:p>
            <a:pPr algn="l"/>
            <a:r>
              <a:rPr sz="1400" b="1" i="0">
                <a:solidFill>
                  <a:srgbClr val="2B8A3E"/>
                </a:solidFill>
              </a:rPr>
              <a:t>pre-training.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74735" y="5074920"/>
            <a:ext cx="3904487" cy="109728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5" y="5120640"/>
            <a:ext cx="37216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3E"/>
                </a:solidFill>
              </a:rPr>
              <a:t>Repair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11895" y="5394960"/>
            <a:ext cx="8686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[PIC:</a:t>
            </a:r>
          </a:p>
          <a:p>
            <a:pPr algn="ctr"/>
            <a:r>
              <a:rPr sz="1100" b="0" i="1">
                <a:solidFill>
                  <a:srgbClr val="868E96"/>
                </a:solidFill>
              </a:rPr>
              <a:t>🛡 shield]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72015" y="5440680"/>
            <a:ext cx="2715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3E"/>
                </a:solidFill>
              </a:rPr>
              <a:t>Guarded decoding /</a:t>
            </a:r>
          </a:p>
          <a:p>
            <a:pPr algn="l"/>
            <a:r>
              <a:rPr sz="1400" b="1" i="0">
                <a:solidFill>
                  <a:srgbClr val="2B8A3E"/>
                </a:solidFill>
              </a:rPr>
              <a:t>contradiction filter.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2880" y="6263640"/>
            <a:ext cx="11795760" cy="45720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800" b="1" i="1">
                <a:solidFill>
                  <a:srgbClr val="212529"/>
                </a:solidFill>
              </a:rPr>
              <a:t>Same family score  →  different atomic-capacity bottleneck  →  different repair.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