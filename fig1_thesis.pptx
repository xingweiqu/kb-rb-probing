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82880"/>
            <a:ext cx="11795760" cy="502920"/>
          </a:xfrm>
          <a:prstGeom prst="roundRect">
            <a:avLst/>
          </a:prstGeom>
          <a:solidFill>
            <a:srgbClr val="F1F3F5"/>
          </a:solidFill>
          <a:ln w="19050"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200" b="1" i="0">
                <a:solidFill>
                  <a:srgbClr val="212529"/>
                </a:solidFill>
                <a:latin typeface="Comic Sans MS"/>
              </a:rPr>
              <a:t>A family score says "Knowledge: low."   But WHICH capacity is the bottleneck?</a:t>
            </a:r>
          </a:p>
        </p:txBody>
      </p:sp>
      <p:sp>
        <p:nvSpPr>
          <p:cNvPr id="3" name="Oval 2"/>
          <p:cNvSpPr/>
          <p:nvPr/>
        </p:nvSpPr>
        <p:spPr>
          <a:xfrm>
            <a:off x="182880" y="868680"/>
            <a:ext cx="2377440" cy="1463040"/>
          </a:xfrm>
          <a:prstGeom prst="ellipse">
            <a:avLst/>
          </a:prstGeom>
          <a:solidFill>
            <a:srgbClr val="E7F5FF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 i="0">
                <a:solidFill>
                  <a:srgbClr val="1971C2"/>
                </a:solidFill>
                <a:latin typeface="Comic Sans MS"/>
              </a:rPr>
              <a:t>Q:  capital of</a:t>
            </a:r>
          </a:p>
          <a:p>
            <a:pPr algn="ctr"/>
            <a:r>
              <a:rPr sz="1800" b="1" i="0">
                <a:solidFill>
                  <a:srgbClr val="1971C2"/>
                </a:solidFill>
                <a:latin typeface="Comic Sans MS"/>
              </a:rPr>
              <a:t>Australia?</a:t>
            </a:r>
          </a:p>
          <a:p>
            <a:pPr algn="ctr"/>
            <a:r>
              <a:rPr sz="1800" b="1" i="0">
                <a:solidFill>
                  <a:srgbClr val="1971C2"/>
                </a:solidFill>
                <a:latin typeface="Comic Sans MS"/>
              </a:rPr>
              <a:t/>
            </a:r>
          </a:p>
          <a:p>
            <a:pPr algn="ctr"/>
            <a:r>
              <a:rPr sz="1800" b="1" i="0">
                <a:solidFill>
                  <a:srgbClr val="1971C2"/>
                </a:solidFill>
                <a:latin typeface="Comic Sans MS"/>
              </a:rPr>
              <a:t>Gold: Canberra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606040" y="1600200"/>
            <a:ext cx="274320" cy="0"/>
          </a:xfrm>
          <a:prstGeom prst="bentConnector3">
            <a:avLst/>
          </a:prstGeom>
          <a:ln w="28575">
            <a:solidFill>
              <a:srgbClr val="868E9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0" y="868680"/>
            <a:ext cx="22402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pic>
        <p:nvPicPr>
          <p:cNvPr id="6" name="Picture 5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26080" y="1673352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529"/>
                </a:solidFill>
                <a:latin typeface="Comic Sans MS"/>
              </a:rPr>
              <a:t>Model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74519"/>
            <a:ext cx="2240280" cy="457200"/>
          </a:xfrm>
          <a:prstGeom prst="roundRect">
            <a:avLst/>
          </a:prstGeom>
          <a:solidFill>
            <a:srgbClr val="FFE3E3"/>
          </a:solidFill>
          <a:ln w="19050">
            <a:solidFill>
              <a:srgbClr val="C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 i="0">
                <a:solidFill>
                  <a:srgbClr val="C92A2A"/>
                </a:solidFill>
                <a:latin typeface="Comic Sans MS"/>
              </a:rPr>
              <a:t>"Sydney"  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868680"/>
            <a:ext cx="22402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pic>
        <p:nvPicPr>
          <p:cNvPr id="10" name="Picture 9" descr="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14400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12080" y="1673352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529"/>
                </a:solidFill>
                <a:latin typeface="Comic Sans MS"/>
              </a:rPr>
              <a:t>Model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874519"/>
            <a:ext cx="2240280" cy="457200"/>
          </a:xfrm>
          <a:prstGeom prst="roundRect">
            <a:avLst/>
          </a:prstGeom>
          <a:solidFill>
            <a:srgbClr val="FFE3E3"/>
          </a:solidFill>
          <a:ln w="19050">
            <a:solidFill>
              <a:srgbClr val="C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 i="0">
                <a:solidFill>
                  <a:srgbClr val="C92A2A"/>
                </a:solidFill>
                <a:latin typeface="Comic Sans MS"/>
              </a:rPr>
              <a:t>"Sydney" 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868680"/>
            <a:ext cx="22402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pic>
        <p:nvPicPr>
          <p:cNvPr id="14" name="Picture 13" descr="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14400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98079" y="1673352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529"/>
                </a:solidFill>
                <a:latin typeface="Comic Sans MS"/>
              </a:rPr>
              <a:t>Model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874519"/>
            <a:ext cx="2240280" cy="457200"/>
          </a:xfrm>
          <a:prstGeom prst="roundRect">
            <a:avLst/>
          </a:prstGeom>
          <a:solidFill>
            <a:srgbClr val="FFE3E3"/>
          </a:solidFill>
          <a:ln w="19050">
            <a:solidFill>
              <a:srgbClr val="C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 i="0">
                <a:solidFill>
                  <a:srgbClr val="C92A2A"/>
                </a:solidFill>
                <a:latin typeface="Comic Sans MS"/>
              </a:rPr>
              <a:t>"Sydney"  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868680"/>
            <a:ext cx="224028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pic>
        <p:nvPicPr>
          <p:cNvPr id="18" name="Picture 17" descr="m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914400"/>
            <a:ext cx="777240" cy="777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84080" y="1673352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12529"/>
                </a:solidFill>
                <a:latin typeface="Comic Sans MS"/>
              </a:rPr>
              <a:t>Model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874519"/>
            <a:ext cx="2240280" cy="457200"/>
          </a:xfrm>
          <a:prstGeom prst="roundRect">
            <a:avLst/>
          </a:prstGeom>
          <a:solidFill>
            <a:srgbClr val="D3F9D8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 i="0">
                <a:solidFill>
                  <a:srgbClr val="2B8A3E"/>
                </a:solidFill>
                <a:latin typeface="Comic Sans MS"/>
              </a:rPr>
              <a:t>"Canberra"  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" y="2468880"/>
            <a:ext cx="11795760" cy="411480"/>
          </a:xfrm>
          <a:prstGeom prst="roundRect">
            <a:avLst/>
          </a:prstGeom>
          <a:solidFill>
            <a:srgbClr val="FFE0EC"/>
          </a:solidFill>
          <a:ln w="19050">
            <a:solidFill>
              <a:srgbClr val="D63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 i="0">
                <a:solidFill>
                  <a:srgbClr val="D6336C"/>
                </a:solidFill>
                <a:latin typeface="Comic Sans MS"/>
              </a:rPr>
              <a:t>Why do Models 1 &amp; 2 fail?  Three different atomic capacities → three different causes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3017520"/>
            <a:ext cx="3904487" cy="1828800"/>
          </a:xfrm>
          <a:prstGeom prst="roundRect">
            <a:avLst/>
          </a:prstGeom>
          <a:solidFill>
            <a:srgbClr val="E7F5FF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063240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971C2"/>
                </a:solidFill>
                <a:latin typeface="Comic Sans MS"/>
              </a:rPr>
              <a:t>①  Knowledge Surfacing</a:t>
            </a:r>
          </a:p>
        </p:txBody>
      </p:sp>
      <p:pic>
        <p:nvPicPr>
          <p:cNvPr id="24" name="Picture 23" descr="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11880"/>
            <a:ext cx="960120" cy="960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00200" y="3611880"/>
            <a:ext cx="23500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971C2"/>
                </a:solidFill>
                <a:latin typeface="Comic Sans MS"/>
              </a:rPr>
              <a:t>The model never reliably</a:t>
            </a:r>
          </a:p>
          <a:p>
            <a:pPr algn="l"/>
            <a:r>
              <a:rPr sz="1400" b="0" i="0">
                <a:solidFill>
                  <a:srgbClr val="1971C2"/>
                </a:solidFill>
                <a:latin typeface="Comic Sans MS"/>
              </a:rPr>
              <a:t>stored this fact.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72000"/>
            <a:ext cx="3630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68E96"/>
                </a:solidFill>
                <a:latin typeface="Comic Sans MS"/>
              </a:rPr>
              <a:t>Probe pair:  (no-hint  vs.  fact-in-context)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78807" y="3017520"/>
            <a:ext cx="3904487" cy="1828800"/>
          </a:xfrm>
          <a:prstGeom prst="roundRect">
            <a:avLst/>
          </a:prstGeom>
          <a:solidFill>
            <a:srgbClr val="F3F0FF"/>
          </a:solidFill>
          <a:ln w="19050">
            <a:solidFill>
              <a:srgbClr val="704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3063240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048E8"/>
                </a:solidFill>
                <a:latin typeface="Comic Sans MS"/>
              </a:rPr>
              <a:t>②  Paraphrase Robustness</a:t>
            </a:r>
          </a:p>
        </p:txBody>
      </p:sp>
      <p:pic>
        <p:nvPicPr>
          <p:cNvPr id="29" name="Picture 28" descr="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7" y="3611880"/>
            <a:ext cx="960120" cy="9601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596127" y="3611880"/>
            <a:ext cx="23500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48E8"/>
                </a:solidFill>
                <a:latin typeface="Comic Sans MS"/>
              </a:rPr>
              <a:t>Knows it under one phrasing,</a:t>
            </a:r>
          </a:p>
          <a:p>
            <a:pPr algn="l"/>
            <a:r>
              <a:rPr sz="1400" b="0" i="0">
                <a:solidFill>
                  <a:srgbClr val="7048E8"/>
                </a:solidFill>
                <a:latin typeface="Comic Sans MS"/>
              </a:rPr>
              <a:t>fails on another.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15968" y="4572000"/>
            <a:ext cx="3630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68E96"/>
                </a:solidFill>
                <a:latin typeface="Comic Sans MS"/>
              </a:rPr>
              <a:t>Probe pair:  (original  vs.  paraphrased)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5" y="3017520"/>
            <a:ext cx="3904487" cy="1828800"/>
          </a:xfrm>
          <a:prstGeom prst="roundRect">
            <a:avLst/>
          </a:prstGeom>
          <a:solidFill>
            <a:srgbClr val="FFE0EC"/>
          </a:solidFill>
          <a:ln w="19050">
            <a:solidFill>
              <a:srgbClr val="D633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5" y="3063240"/>
            <a:ext cx="3630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6336C"/>
                </a:solidFill>
                <a:latin typeface="Comic Sans MS"/>
              </a:rPr>
              <a:t>③  Wrong-Claim Robustness</a:t>
            </a:r>
          </a:p>
        </p:txBody>
      </p:sp>
      <p:pic>
        <p:nvPicPr>
          <p:cNvPr id="34" name="Picture 33" descr="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5" y="3611880"/>
            <a:ext cx="960120" cy="960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592055" y="3611880"/>
            <a:ext cx="235000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336C"/>
                </a:solidFill>
                <a:latin typeface="Comic Sans MS"/>
              </a:rPr>
              <a:t>Prompt plants a wrong claim,</a:t>
            </a:r>
          </a:p>
          <a:p>
            <a:pPr algn="l"/>
            <a:r>
              <a:rPr sz="1400" b="0" i="0">
                <a:solidFill>
                  <a:srgbClr val="D6336C"/>
                </a:solidFill>
                <a:latin typeface="Comic Sans MS"/>
              </a:rPr>
              <a:t>model goes along.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5" y="4572000"/>
            <a:ext cx="36301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68E96"/>
                </a:solidFill>
                <a:latin typeface="Comic Sans MS"/>
              </a:rPr>
              <a:t>Probe pair:  (clean  vs.  wrong-claim planted)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135124" y="4864608"/>
            <a:ext cx="0" cy="192024"/>
          </a:xfrm>
          <a:prstGeom prst="bentConnector3">
            <a:avLst/>
          </a:prstGeom>
          <a:ln w="34925">
            <a:solidFill>
              <a:srgbClr val="2B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131051" y="4864608"/>
            <a:ext cx="0" cy="192024"/>
          </a:xfrm>
          <a:prstGeom prst="bentConnector3">
            <a:avLst/>
          </a:prstGeom>
          <a:ln w="34925">
            <a:solidFill>
              <a:srgbClr val="2B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126979" y="4864608"/>
            <a:ext cx="0" cy="192024"/>
          </a:xfrm>
          <a:prstGeom prst="bentConnector3">
            <a:avLst/>
          </a:prstGeom>
          <a:ln w="34925">
            <a:solidFill>
              <a:srgbClr val="2B8A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82880" y="5074920"/>
            <a:ext cx="3904487" cy="1097280"/>
          </a:xfrm>
          <a:prstGeom prst="roundRect">
            <a:avLst/>
          </a:prstGeom>
          <a:solidFill>
            <a:srgbClr val="D3F9D8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5120640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8A3E"/>
                </a:solidFill>
                <a:latin typeface="Comic Sans MS"/>
              </a:rPr>
              <a:t>Repair</a:t>
            </a:r>
          </a:p>
        </p:txBody>
      </p:sp>
      <p:pic>
        <p:nvPicPr>
          <p:cNvPr id="42" name="Picture 41" descr="r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5440680"/>
            <a:ext cx="640080" cy="6400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34439" y="5440680"/>
            <a:ext cx="2715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8A3E"/>
                </a:solidFill>
                <a:latin typeface="Comic Sans MS"/>
              </a:rPr>
              <a:t>Add the fact via retrieval</a:t>
            </a:r>
          </a:p>
          <a:p>
            <a:pPr algn="l"/>
            <a:r>
              <a:rPr sz="1400" b="1" i="0">
                <a:solidFill>
                  <a:srgbClr val="2B8A3E"/>
                </a:solidFill>
                <a:latin typeface="Comic Sans MS"/>
              </a:rPr>
              <a:t>or targeted fine-tuning.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78807" y="5074920"/>
            <a:ext cx="3904487" cy="1097280"/>
          </a:xfrm>
          <a:prstGeom prst="roundRect">
            <a:avLst/>
          </a:prstGeom>
          <a:solidFill>
            <a:srgbClr val="D3F9D8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5968" y="5120640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8A3E"/>
                </a:solidFill>
                <a:latin typeface="Comic Sans MS"/>
              </a:rPr>
              <a:t>Repair</a:t>
            </a:r>
          </a:p>
        </p:txBody>
      </p:sp>
      <p:pic>
        <p:nvPicPr>
          <p:cNvPr id="46" name="Picture 45" descr="r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3127" y="5440680"/>
            <a:ext cx="640080" cy="6400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230367" y="5440680"/>
            <a:ext cx="2715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8A3E"/>
                </a:solidFill>
                <a:latin typeface="Comic Sans MS"/>
              </a:rPr>
              <a:t>Paraphrase-augmented</a:t>
            </a:r>
          </a:p>
          <a:p>
            <a:pPr algn="l"/>
            <a:r>
              <a:rPr sz="1400" b="1" i="0">
                <a:solidFill>
                  <a:srgbClr val="2B8A3E"/>
                </a:solidFill>
                <a:latin typeface="Comic Sans MS"/>
              </a:rPr>
              <a:t>pre-training.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5" y="5074920"/>
            <a:ext cx="3904487" cy="1097280"/>
          </a:xfrm>
          <a:prstGeom prst="roundRect">
            <a:avLst/>
          </a:prstGeom>
          <a:solidFill>
            <a:srgbClr val="D3F9D8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0" i="0">
                <a:solidFill>
                  <a:srgbClr val="212529"/>
                </a:solidFill>
                <a:latin typeface="Comic Sans MS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1895" y="5120640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8A3E"/>
                </a:solidFill>
                <a:latin typeface="Comic Sans MS"/>
              </a:rPr>
              <a:t>Repair</a:t>
            </a:r>
          </a:p>
        </p:txBody>
      </p:sp>
      <p:pic>
        <p:nvPicPr>
          <p:cNvPr id="50" name="Picture 49" descr="r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9055" y="5440680"/>
            <a:ext cx="640080" cy="6400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226295" y="5440680"/>
            <a:ext cx="27157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8A3E"/>
                </a:solidFill>
                <a:latin typeface="Comic Sans MS"/>
              </a:rPr>
              <a:t>Guarded decoding /</a:t>
            </a:r>
          </a:p>
          <a:p>
            <a:pPr algn="l"/>
            <a:r>
              <a:rPr sz="1400" b="1" i="0">
                <a:solidFill>
                  <a:srgbClr val="2B8A3E"/>
                </a:solidFill>
                <a:latin typeface="Comic Sans MS"/>
              </a:rPr>
              <a:t>contradiction filter.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2880" y="6263640"/>
            <a:ext cx="11795760" cy="457200"/>
          </a:xfrm>
          <a:prstGeom prst="roundRect">
            <a:avLst/>
          </a:prstGeom>
          <a:solidFill>
            <a:srgbClr val="F1F3F5"/>
          </a:solidFill>
          <a:ln w="19050">
            <a:solidFill>
              <a:srgbClr val="212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 i="1">
                <a:solidFill>
                  <a:srgbClr val="212529"/>
                </a:solidFill>
                <a:latin typeface="Comic Sans MS"/>
              </a:rPr>
              <a:t>Same family score  →  different atomic-capacity bottleneck  →  different repair.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