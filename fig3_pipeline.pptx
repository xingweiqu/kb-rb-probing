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795760" cy="50292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200" b="1" i="0">
                <a:solidFill>
                  <a:srgbClr val="212529"/>
                </a:solidFill>
                <a:latin typeface="Comic Sans MS"/>
              </a:rPr>
              <a:t>Data Construction Pipeline   —   650 prompt rows across 9 atomic capacities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6888" y="822960"/>
            <a:ext cx="2560320" cy="5166360"/>
          </a:xfrm>
          <a:prstGeom prst="roundRect">
            <a:avLst/>
          </a:prstGeom>
          <a:solidFill>
            <a:srgbClr val="E7F5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896112"/>
            <a:ext cx="234086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971C2"/>
                </a:solidFill>
                <a:latin typeface="Comic Sans MS"/>
              </a:rPr>
              <a:t>①  Backbone Sampling</a:t>
            </a:r>
          </a:p>
        </p:txBody>
      </p:sp>
      <p:pic>
        <p:nvPicPr>
          <p:cNvPr id="5" name="Picture 4" descr="p1_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3312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62456" y="132588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Knowledge: 1-hop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456" y="164592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Reasoning: rule + inst.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6596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Hybrid: 2-hop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31720"/>
            <a:ext cx="2231136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000" b="1" i="1">
                <a:solidFill>
                  <a:srgbClr val="1971C2"/>
                </a:solidFill>
                <a:latin typeface="Comic Sans MS"/>
              </a:rPr>
              <a:t>Wikidata (Mt. Everest, country, ?)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624327"/>
            <a:ext cx="2231136" cy="2496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Original Q: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"In which country is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Mt. Everest?"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/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Gold:  Nepal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5422392"/>
            <a:ext cx="2231136" cy="457200"/>
          </a:xfrm>
          <a:prstGeom prst="roundRect">
            <a:avLst/>
          </a:prstGeom>
          <a:solidFill>
            <a:srgbClr val="1971C2"/>
          </a:solidFill>
          <a:ln w="19050">
            <a:solidFill>
              <a:srgbClr val="1971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omic Sans MS"/>
              </a:rPr>
              <a:t>25 backbones × 3 domains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822960"/>
            <a:ext cx="2560320" cy="516636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896112"/>
            <a:ext cx="234086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048E8"/>
                </a:solidFill>
                <a:latin typeface="Comic Sans MS"/>
              </a:rPr>
              <a:t>②  Variant Generation</a:t>
            </a:r>
          </a:p>
        </p:txBody>
      </p:sp>
      <p:pic>
        <p:nvPicPr>
          <p:cNvPr id="14" name="Picture 13" descr="p2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353312"/>
            <a:ext cx="868680" cy="868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9976" y="132588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Claude-Sonnet-4.5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164592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9 per-cell schemas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9976" y="196596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natural + symbolic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2331720"/>
            <a:ext cx="2231136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000" b="1" i="1">
                <a:solidFill>
                  <a:srgbClr val="7048E8"/>
                </a:solidFill>
                <a:latin typeface="Comic Sans MS"/>
              </a:rPr>
              <a:t>1 backbone → 9 variants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2624327"/>
            <a:ext cx="2231136" cy="2496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K-P:  "Hint: Mt. Everest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borders Tibet.  Country?"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/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K-D:  "Some say Mt. Everest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is in India.  Country?"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5422392"/>
            <a:ext cx="2231136" cy="457200"/>
          </a:xfrm>
          <a:prstGeom prst="roundRect">
            <a:avLst/>
          </a:prstGeom>
          <a:solidFill>
            <a:srgbClr val="7048E8"/>
          </a:solidFill>
          <a:ln w="19050">
            <a:solidFill>
              <a:srgbClr val="704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omic Sans MS"/>
              </a:rPr>
              <a:t>9 atomic capacities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7" y="822960"/>
            <a:ext cx="2560320" cy="5166360"/>
          </a:xfrm>
          <a:prstGeom prst="roundRect">
            <a:avLst/>
          </a:prstGeom>
          <a:solidFill>
            <a:srgbClr val="FFF0E0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5" y="896112"/>
            <a:ext cx="234086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8590C"/>
                </a:solidFill>
                <a:latin typeface="Comic Sans MS"/>
              </a:rPr>
              <a:t>③  Automated Validation</a:t>
            </a:r>
          </a:p>
        </p:txBody>
      </p:sp>
      <p:pic>
        <p:nvPicPr>
          <p:cNvPr id="23" name="Picture 22" descr="p3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9" y="1353312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97496" y="132588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gold-leakage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7496" y="164592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type-match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196596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load-bearing check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19" y="2331720"/>
            <a:ext cx="2231136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000" b="1" i="1">
                <a:solidFill>
                  <a:srgbClr val="E8590C"/>
                </a:solidFill>
                <a:latin typeface="Comic Sans MS"/>
              </a:rPr>
              <a:t>Iterate on the K-D variant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19" y="2624327"/>
            <a:ext cx="2231136" cy="2496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✗  draft #1: "Nepal" leaked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    → reject ↺ regenerate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/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✗  draft #2: distractor not a country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    → reject ↺ regenerate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/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✓  draft #3: all 3 checks pass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→  accepted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19" y="5422392"/>
            <a:ext cx="2231136" cy="457200"/>
          </a:xfrm>
          <a:prstGeom prst="roundRect">
            <a:avLst/>
          </a:prstGeom>
          <a:solidFill>
            <a:srgbClr val="E8590C"/>
          </a:solidFill>
          <a:ln w="19050">
            <a:solidFill>
              <a:srgbClr val="E859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omic Sans MS"/>
              </a:rPr>
              <a:t>rule-based, bounded retry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99447" y="822960"/>
            <a:ext cx="2560320" cy="5166360"/>
          </a:xfrm>
          <a:prstGeom prst="roundRect">
            <a:avLst/>
          </a:prstGeom>
          <a:solidFill>
            <a:srgbClr val="D3F9D8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0" i="0">
                <a:solidFill>
                  <a:srgbClr val="212529"/>
                </a:solidFill>
                <a:latin typeface="Comic Sans M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5" y="896112"/>
            <a:ext cx="234086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B8A3E"/>
                </a:solidFill>
                <a:latin typeface="Comic Sans MS"/>
              </a:rPr>
              <a:t>④  Released Dataset</a:t>
            </a:r>
          </a:p>
        </p:txBody>
      </p:sp>
      <p:pic>
        <p:nvPicPr>
          <p:cNvPr id="32" name="Picture 31" descr="p4_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39" y="1353312"/>
            <a:ext cx="868680" cy="868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415015" y="132588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150 originals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5015" y="164592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450 primary variants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15015" y="1965960"/>
            <a:ext cx="1316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•  +50 both-blocked ctrl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39" y="2331720"/>
            <a:ext cx="2231136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000" b="1" i="1">
                <a:solidFill>
                  <a:srgbClr val="2B8A3E"/>
                </a:solidFill>
                <a:latin typeface="Comic Sans MS"/>
              </a:rPr>
              <a:t>This item contributes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4039" y="2624327"/>
            <a:ext cx="2231136" cy="2496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1 original  +  9 variants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  × 2 surface modes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/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= 20 rows for Mt. Everest</a:t>
            </a:r>
          </a:p>
          <a:p>
            <a:pPr algn="l"/>
            <a:r>
              <a:rPr sz="1200" b="0" i="0">
                <a:solidFill>
                  <a:srgbClr val="212529"/>
                </a:solidFill>
                <a:latin typeface="Comic Sans MS"/>
              </a:rPr>
              <a:t>   (1 of 75 backbones)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64039" y="5422392"/>
            <a:ext cx="2231136" cy="457200"/>
          </a:xfrm>
          <a:prstGeom prst="roundRect">
            <a:avLst/>
          </a:prstGeom>
          <a:solidFill>
            <a:srgbClr val="2B8A3E"/>
          </a:solidFill>
          <a:ln w="19050">
            <a:solidFill>
              <a:srgbClr val="2B8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omic Sans MS"/>
              </a:rPr>
              <a:t>650 prompt rows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816351" y="3200400"/>
            <a:ext cx="438912" cy="0"/>
          </a:xfrm>
          <a:prstGeom prst="bentConnector3">
            <a:avLst/>
          </a:prstGeom>
          <a:ln w="5080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33871" y="3200400"/>
            <a:ext cx="438912" cy="0"/>
          </a:xfrm>
          <a:prstGeom prst="bentConnector3">
            <a:avLst/>
          </a:prstGeom>
          <a:ln w="5080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51391" y="3200400"/>
            <a:ext cx="438912" cy="0"/>
          </a:xfrm>
          <a:prstGeom prst="bentConnector3">
            <a:avLst/>
          </a:prstGeom>
          <a:ln w="50800">
            <a:solidFill>
              <a:srgbClr val="21252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5843015" y="4754880"/>
            <a:ext cx="420625" cy="0"/>
          </a:xfrm>
          <a:prstGeom prst="line">
            <a:avLst/>
          </a:prstGeom>
          <a:ln w="50800">
            <a:solidFill>
              <a:srgbClr val="D6336C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33288" y="4434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1">
                <a:solidFill>
                  <a:srgbClr val="D6336C"/>
                </a:solidFill>
                <a:latin typeface="Comic Sans MS"/>
              </a:rPr>
              <a:t>↺  regenerate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33288" y="48280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D6336C"/>
                </a:solidFill>
                <a:latin typeface="Comic Sans MS"/>
              </a:rPr>
              <a:t>if check fails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2880" y="6126480"/>
            <a:ext cx="11795760" cy="502920"/>
          </a:xfrm>
          <a:prstGeom prst="roundRect">
            <a:avLst/>
          </a:prstGeom>
          <a:solidFill>
            <a:srgbClr val="F1F3F5"/>
          </a:solidFill>
          <a:ln w="19050">
            <a:solidFill>
              <a:srgbClr val="2125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400" b="1" i="1">
                <a:solidFill>
                  <a:srgbClr val="212529"/>
                </a:solidFill>
                <a:latin typeface="Comic Sans MS"/>
              </a:rPr>
              <a:t>One backbone → 9 capacity variants → validated (with retry loop) → 20 dataset rows.   75 backbones × this pipeline = 650 rows.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