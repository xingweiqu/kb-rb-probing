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795760" cy="502920"/>
          </a:xfrm>
          <a:prstGeom prst="roundRect">
            <a:avLst/>
          </a:prstGeom>
          <a:solidFill>
            <a:srgbClr val="F1F3F5"/>
          </a:solidFill>
          <a:ln w="19050">
            <a:solidFill>
              <a:srgbClr val="21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200" b="1" i="0">
                <a:solidFill>
                  <a:srgbClr val="212529"/>
                </a:solidFill>
                <a:latin typeface="Comic Sans MS"/>
              </a:rPr>
              <a:t>Data Construction Pipeline   —   650 prompt rows across 9 atomic capacities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02336" y="914400"/>
            <a:ext cx="2606040" cy="4937760"/>
          </a:xfrm>
          <a:prstGeom prst="roundRect">
            <a:avLst/>
          </a:prstGeom>
          <a:solidFill>
            <a:srgbClr val="E7F5FF"/>
          </a:solidFill>
          <a:ln w="19050">
            <a:solidFill>
              <a:srgbClr val="1971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400" b="0" i="0">
                <a:solidFill>
                  <a:srgbClr val="212529"/>
                </a:solidFill>
                <a:latin typeface="Comic Sans MS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9496" y="1005840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971C2"/>
                </a:solidFill>
                <a:latin typeface="Comic Sans MS"/>
              </a:rPr>
              <a:t>①  Backbone Sampling</a:t>
            </a:r>
          </a:p>
        </p:txBody>
      </p:sp>
      <p:pic>
        <p:nvPicPr>
          <p:cNvPr id="5" name="Picture 4" descr="p1_d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6" y="1554480"/>
            <a:ext cx="1280160" cy="1280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39496" y="310896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529"/>
                </a:solidFill>
                <a:latin typeface="Comic Sans MS"/>
              </a:rPr>
              <a:t>•  Knowledge: 1-hop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36118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529"/>
                </a:solidFill>
                <a:latin typeface="Comic Sans MS"/>
              </a:rPr>
              <a:t>•  Reasoning: rule + inst.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" y="41148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529"/>
                </a:solidFill>
                <a:latin typeface="Comic Sans MS"/>
              </a:rPr>
              <a:t>•  Hybrid: 2-hop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" y="5074920"/>
            <a:ext cx="224028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971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400" b="1" i="0">
                <a:solidFill>
                  <a:srgbClr val="1971C2"/>
                </a:solidFill>
                <a:latin typeface="Comic Sans MS"/>
              </a:rPr>
              <a:t>25 backbones × 3 domains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28416" y="914400"/>
            <a:ext cx="2606040" cy="4937760"/>
          </a:xfrm>
          <a:prstGeom prst="roundRect">
            <a:avLst/>
          </a:prstGeom>
          <a:solidFill>
            <a:srgbClr val="F3F0FF"/>
          </a:solidFill>
          <a:ln w="19050">
            <a:solidFill>
              <a:srgbClr val="704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400" b="0" i="0">
                <a:solidFill>
                  <a:srgbClr val="212529"/>
                </a:solidFill>
                <a:latin typeface="Comic Sans MS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5576" y="1005840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7048E8"/>
                </a:solidFill>
                <a:latin typeface="Comic Sans MS"/>
              </a:rPr>
              <a:t>②  Variant Generation</a:t>
            </a:r>
          </a:p>
        </p:txBody>
      </p:sp>
      <p:pic>
        <p:nvPicPr>
          <p:cNvPr id="12" name="Picture 11" descr="p2_rob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1356" y="1554480"/>
            <a:ext cx="1280160" cy="12801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65576" y="310896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529"/>
                </a:solidFill>
                <a:latin typeface="Comic Sans MS"/>
              </a:rPr>
              <a:t>•  Claude-Sonnet-4.5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5576" y="36118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529"/>
                </a:solidFill>
                <a:latin typeface="Comic Sans MS"/>
              </a:rPr>
              <a:t>•  9 per-cell schemas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5576" y="41148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529"/>
                </a:solidFill>
                <a:latin typeface="Comic Sans MS"/>
              </a:rPr>
              <a:t>•  natural + symbolic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11296" y="5074920"/>
            <a:ext cx="224028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04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400" b="1" i="0">
                <a:solidFill>
                  <a:srgbClr val="7048E8"/>
                </a:solidFill>
                <a:latin typeface="Comic Sans MS"/>
              </a:rPr>
              <a:t>9 atomic capacities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914400"/>
            <a:ext cx="2606040" cy="4937760"/>
          </a:xfrm>
          <a:prstGeom prst="roundRect">
            <a:avLst/>
          </a:prstGeom>
          <a:solidFill>
            <a:srgbClr val="FFF0E0"/>
          </a:solidFill>
          <a:ln w="19050">
            <a:solidFill>
              <a:srgbClr val="E859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400" b="0" i="0">
                <a:solidFill>
                  <a:srgbClr val="212529"/>
                </a:solidFill>
                <a:latin typeface="Comic Sans MS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1656" y="1005840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E8590C"/>
                </a:solidFill>
                <a:latin typeface="Comic Sans MS"/>
              </a:rPr>
              <a:t>③  Automated Validation</a:t>
            </a:r>
          </a:p>
        </p:txBody>
      </p:sp>
      <p:pic>
        <p:nvPicPr>
          <p:cNvPr id="19" name="Picture 18" descr="p3_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7436" y="1554480"/>
            <a:ext cx="1280160" cy="12801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391656" y="310896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529"/>
                </a:solidFill>
                <a:latin typeface="Comic Sans MS"/>
              </a:rPr>
              <a:t>•  gold-leakage 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6118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529"/>
                </a:solidFill>
                <a:latin typeface="Comic Sans MS"/>
              </a:rPr>
              <a:t>•  type-match 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1656" y="41148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529"/>
                </a:solidFill>
                <a:latin typeface="Comic Sans MS"/>
              </a:rPr>
              <a:t>•  load-bearing check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37376" y="5074920"/>
            <a:ext cx="224028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59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400" b="1" i="0">
                <a:solidFill>
                  <a:srgbClr val="E8590C"/>
                </a:solidFill>
                <a:latin typeface="Comic Sans MS"/>
              </a:rPr>
              <a:t>rule-based, bounded retry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0576" y="914400"/>
            <a:ext cx="2606040" cy="4937760"/>
          </a:xfrm>
          <a:prstGeom prst="roundRect">
            <a:avLst/>
          </a:prstGeom>
          <a:solidFill>
            <a:srgbClr val="D3F9D8"/>
          </a:solidFill>
          <a:ln w="19050">
            <a:solidFill>
              <a:srgbClr val="2B8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400" b="0" i="0">
                <a:solidFill>
                  <a:srgbClr val="212529"/>
                </a:solidFill>
                <a:latin typeface="Comic Sans MS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7736" y="1005840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2B8A3E"/>
                </a:solidFill>
                <a:latin typeface="Comic Sans MS"/>
              </a:rPr>
              <a:t>④  Released Dataset</a:t>
            </a:r>
          </a:p>
        </p:txBody>
      </p:sp>
      <p:pic>
        <p:nvPicPr>
          <p:cNvPr id="26" name="Picture 25" descr="p4_bo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43516" y="1554480"/>
            <a:ext cx="1280160" cy="12801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317736" y="310896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529"/>
                </a:solidFill>
                <a:latin typeface="Comic Sans MS"/>
              </a:rPr>
              <a:t>•  150 originals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7736" y="36118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529"/>
                </a:solidFill>
                <a:latin typeface="Comic Sans MS"/>
              </a:rPr>
              <a:t>•  450 primary variants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17736" y="41148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529"/>
                </a:solidFill>
                <a:latin typeface="Comic Sans MS"/>
              </a:rPr>
              <a:t>•  +50 both-blocked ctrl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63456" y="5074920"/>
            <a:ext cx="224028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8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400" b="1" i="0">
                <a:solidFill>
                  <a:srgbClr val="2B8A3E"/>
                </a:solidFill>
                <a:latin typeface="Comic Sans MS"/>
              </a:rPr>
              <a:t>650 prompt rows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026664" y="3383280"/>
            <a:ext cx="283464" cy="0"/>
          </a:xfrm>
          <a:prstGeom prst="bentConnector3">
            <a:avLst/>
          </a:prstGeom>
          <a:ln w="44450">
            <a:solidFill>
              <a:srgbClr val="212529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952744" y="3383280"/>
            <a:ext cx="283463" cy="0"/>
          </a:xfrm>
          <a:prstGeom prst="bentConnector3">
            <a:avLst/>
          </a:prstGeom>
          <a:ln w="44450">
            <a:solidFill>
              <a:srgbClr val="212529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878824" y="3383280"/>
            <a:ext cx="283464" cy="0"/>
          </a:xfrm>
          <a:prstGeom prst="bentConnector3">
            <a:avLst/>
          </a:prstGeom>
          <a:ln w="44450">
            <a:solidFill>
              <a:srgbClr val="212529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82880" y="6080760"/>
            <a:ext cx="11795760" cy="594360"/>
          </a:xfrm>
          <a:prstGeom prst="roundRect">
            <a:avLst/>
          </a:prstGeom>
          <a:solidFill>
            <a:srgbClr val="F1F3F5"/>
          </a:solidFill>
          <a:ln w="19050">
            <a:solidFill>
              <a:srgbClr val="21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700" b="1" i="1">
                <a:solidFill>
                  <a:srgbClr val="212529"/>
                </a:solidFill>
                <a:latin typeface="Comic Sans MS"/>
              </a:rPr>
              <a:t>Same scaffold across K / R / C  →  one paired (original, variant) assay per capacity per backbone.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