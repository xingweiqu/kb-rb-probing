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37160"/>
            <a:ext cx="11795760" cy="384048"/>
          </a:xfrm>
          <a:prstGeom prst="roundRect">
            <a:avLst/>
          </a:prstGeom>
          <a:solidFill>
            <a:srgbClr val="F1F3F5"/>
          </a:solidFill>
          <a:ln w="19050"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800" b="1" i="0">
                <a:solidFill>
                  <a:srgbClr val="212529"/>
                </a:solidFill>
                <a:latin typeface="Comic Sans MS"/>
              </a:rPr>
              <a:t>Data Construction Pipeline   —   650 prompt rows across 9 atomic capacities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1143000"/>
            <a:ext cx="2697480" cy="4846320"/>
          </a:xfrm>
          <a:prstGeom prst="roundRect">
            <a:avLst/>
          </a:prstGeom>
          <a:solidFill>
            <a:srgbClr val="E7F5FF"/>
          </a:solidFill>
          <a:ln w="1905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16152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971C2"/>
                </a:solidFill>
                <a:latin typeface="Comic Sans MS"/>
              </a:rPr>
              <a:t>①  Backbone Sampling</a:t>
            </a:r>
          </a:p>
        </p:txBody>
      </p:sp>
      <p:pic>
        <p:nvPicPr>
          <p:cNvPr id="5" name="Picture 4" descr="p1_d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673352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645920"/>
            <a:ext cx="1453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•  Knowledge: 1-hop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1453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•  Reasoning: rule + inst.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1453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•  Hybrid: 2-hop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743200"/>
            <a:ext cx="2368296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 i="1">
                <a:solidFill>
                  <a:srgbClr val="1971C2"/>
                </a:solidFill>
                <a:latin typeface="Comic Sans MS"/>
              </a:rPr>
              <a:t>Wikidata (Mt. Everest, country, ?)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035808"/>
            <a:ext cx="2368296" cy="2313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wrap="square"/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Original Q: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"In which country is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Mt. Everest?"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Gold:  Nepal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5422392"/>
            <a:ext cx="2368296" cy="457200"/>
          </a:xfrm>
          <a:prstGeom prst="roundRect">
            <a:avLst/>
          </a:prstGeom>
          <a:solidFill>
            <a:srgbClr val="1971C2"/>
          </a:solidFill>
          <a:ln w="1905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mic Sans MS"/>
              </a:rPr>
              <a:t>25 backbones × 3 domains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45536" y="1143000"/>
            <a:ext cx="2697480" cy="4846320"/>
          </a:xfrm>
          <a:prstGeom prst="roundRect">
            <a:avLst/>
          </a:prstGeom>
          <a:solidFill>
            <a:srgbClr val="F3F0FF"/>
          </a:solidFill>
          <a:ln w="19050">
            <a:solidFill>
              <a:srgbClr val="704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216152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048E8"/>
                </a:solidFill>
                <a:latin typeface="Comic Sans MS"/>
              </a:rPr>
              <a:t>②  Variant Generation</a:t>
            </a:r>
          </a:p>
        </p:txBody>
      </p:sp>
      <p:pic>
        <p:nvPicPr>
          <p:cNvPr id="14" name="Picture 13" descr="p2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73352"/>
            <a:ext cx="868680" cy="868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61104" y="1645920"/>
            <a:ext cx="1453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•  Claude-Sonnet-4.5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1965960"/>
            <a:ext cx="1453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•  9 per-cell schemas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2286000"/>
            <a:ext cx="1453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•  natural + symbolic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2743200"/>
            <a:ext cx="2368296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4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 i="1">
                <a:solidFill>
                  <a:srgbClr val="7048E8"/>
                </a:solidFill>
                <a:latin typeface="Comic Sans MS"/>
              </a:rPr>
              <a:t>1 backbone → 9 variants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0128" y="3035808"/>
            <a:ext cx="2368296" cy="2313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4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wrap="square"/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K-P:  "Hint: Mt. Everest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borders Tibet.  Country?"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K-D:  "Some say Mt. Everest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is in India.  Country?"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0128" y="5422392"/>
            <a:ext cx="2368296" cy="457200"/>
          </a:xfrm>
          <a:prstGeom prst="roundRect">
            <a:avLst/>
          </a:prstGeom>
          <a:solidFill>
            <a:srgbClr val="7048E8"/>
          </a:solidFill>
          <a:ln w="19050">
            <a:solidFill>
              <a:srgbClr val="704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mic Sans MS"/>
              </a:rPr>
              <a:t>9 atomic capacities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143000"/>
            <a:ext cx="2697480" cy="4846320"/>
          </a:xfrm>
          <a:prstGeom prst="roundRect">
            <a:avLst/>
          </a:prstGeom>
          <a:solidFill>
            <a:srgbClr val="FFF0E0"/>
          </a:solidFill>
          <a:ln w="1905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1216152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590C"/>
                </a:solidFill>
                <a:latin typeface="Comic Sans MS"/>
              </a:rPr>
              <a:t>③  Automated Validation</a:t>
            </a:r>
          </a:p>
        </p:txBody>
      </p:sp>
      <p:pic>
        <p:nvPicPr>
          <p:cNvPr id="23" name="Picture 22" descr="p3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673352"/>
            <a:ext cx="868680" cy="868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50608" y="1645920"/>
            <a:ext cx="1453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•  gold-leakage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1965960"/>
            <a:ext cx="1453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•  type-match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2286000"/>
            <a:ext cx="1453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•  load-bearing check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2743200"/>
            <a:ext cx="2368296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 i="1">
                <a:solidFill>
                  <a:srgbClr val="E8590C"/>
                </a:solidFill>
                <a:latin typeface="Comic Sans MS"/>
              </a:rPr>
              <a:t>Iterate on the K-D variant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035808"/>
            <a:ext cx="2368296" cy="2313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wrap="square"/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✗  draft #1: "Nepal" leaked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    → reject ↺ regenerate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✗  draft #2: distractor not a country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    → reject ↺ regenerate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✓  draft #3: all 3 checks pass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→  accepted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5422392"/>
            <a:ext cx="2368296" cy="457200"/>
          </a:xfrm>
          <a:prstGeom prst="roundRect">
            <a:avLst/>
          </a:prstGeom>
          <a:solidFill>
            <a:srgbClr val="E8590C"/>
          </a:solidFill>
          <a:ln w="19050">
            <a:solidFill>
              <a:srgbClr val="E85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mic Sans MS"/>
              </a:rPr>
              <a:t>rule-based, bounded retry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24544" y="1143000"/>
            <a:ext cx="2697480" cy="4846320"/>
          </a:xfrm>
          <a:prstGeom prst="roundRect">
            <a:avLst/>
          </a:prstGeom>
          <a:solidFill>
            <a:srgbClr val="D3F9D8"/>
          </a:solidFill>
          <a:ln w="1905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1216152"/>
            <a:ext cx="2478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B8A3E"/>
                </a:solidFill>
                <a:latin typeface="Comic Sans MS"/>
              </a:rPr>
              <a:t>④  Released Dataset</a:t>
            </a:r>
          </a:p>
        </p:txBody>
      </p:sp>
      <p:pic>
        <p:nvPicPr>
          <p:cNvPr id="32" name="Picture 31" descr="p4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36" y="1673352"/>
            <a:ext cx="868680" cy="8686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040112" y="1645920"/>
            <a:ext cx="1453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•  150 originals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2" y="1965960"/>
            <a:ext cx="1453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•  450 primary variants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0112" y="2286000"/>
            <a:ext cx="1453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•  +50 both-blocked ctrl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89136" y="2743200"/>
            <a:ext cx="2368296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1" i="1">
                <a:solidFill>
                  <a:srgbClr val="2B8A3E"/>
                </a:solidFill>
                <a:latin typeface="Comic Sans MS"/>
              </a:rPr>
              <a:t>This item contributes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89136" y="3035808"/>
            <a:ext cx="2368296" cy="2313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wrap="square"/>
          <a:lstStyle/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1 original  +  9 variants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  × 2 surface modes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= 20 rows for Mt. Everest</a:t>
            </a:r>
          </a:p>
          <a:p>
            <a:pPr algn="l"/>
            <a:r>
              <a:rPr sz="1200" b="0" i="0">
                <a:solidFill>
                  <a:srgbClr val="212529"/>
                </a:solidFill>
                <a:latin typeface="Comic Sans MS"/>
              </a:rPr>
              <a:t>   (1 of 75 backbones)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89136" y="5422392"/>
            <a:ext cx="2368296" cy="457200"/>
          </a:xfrm>
          <a:prstGeom prst="roundRect">
            <a:avLst/>
          </a:prstGeom>
          <a:solidFill>
            <a:srgbClr val="2B8A3E"/>
          </a:solidFill>
          <a:ln w="1905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mic Sans MS"/>
              </a:rPr>
              <a:t>650 prompt rows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962656" y="4069080"/>
            <a:ext cx="173736" cy="0"/>
          </a:xfrm>
          <a:prstGeom prst="bentConnector3">
            <a:avLst/>
          </a:prstGeom>
          <a:ln w="50800">
            <a:solidFill>
              <a:srgbClr val="212529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852160" y="4069080"/>
            <a:ext cx="173736" cy="0"/>
          </a:xfrm>
          <a:prstGeom prst="bentConnector3">
            <a:avLst/>
          </a:prstGeom>
          <a:ln w="50800">
            <a:solidFill>
              <a:srgbClr val="212529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741664" y="4069080"/>
            <a:ext cx="173736" cy="0"/>
          </a:xfrm>
          <a:prstGeom prst="bentConnector3">
            <a:avLst/>
          </a:prstGeom>
          <a:ln w="50800">
            <a:solidFill>
              <a:srgbClr val="212529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383780" y="640080"/>
            <a:ext cx="0" cy="502920"/>
          </a:xfrm>
          <a:prstGeom prst="line">
            <a:avLst/>
          </a:prstGeom>
          <a:ln w="57150">
            <a:solidFill>
              <a:srgbClr val="D63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494276" y="640080"/>
            <a:ext cx="2889504" cy="0"/>
          </a:xfrm>
          <a:prstGeom prst="line">
            <a:avLst/>
          </a:prstGeom>
          <a:ln w="57150">
            <a:solidFill>
              <a:srgbClr val="D63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94276" y="640080"/>
            <a:ext cx="0" cy="502920"/>
          </a:xfrm>
          <a:prstGeom prst="line">
            <a:avLst/>
          </a:prstGeom>
          <a:ln w="57150">
            <a:solidFill>
              <a:srgbClr val="D6336C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561588" y="22859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D6336C"/>
                </a:solidFill>
                <a:latin typeface="Comic Sans MS"/>
              </a:rPr>
              <a:t>↺  validator → generation:  keep rewriting the variant until it passes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8020" y="868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6336C"/>
                </a:solidFill>
                <a:latin typeface="Comic Sans MS"/>
              </a:rPr>
              <a:t>fail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37076" y="868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6336C"/>
                </a:solidFill>
                <a:latin typeface="Comic Sans MS"/>
              </a:rPr>
              <a:t>regen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" y="6172200"/>
            <a:ext cx="11795760" cy="502920"/>
          </a:xfrm>
          <a:prstGeom prst="roundRect">
            <a:avLst/>
          </a:prstGeom>
          <a:solidFill>
            <a:srgbClr val="F1F3F5"/>
          </a:solidFill>
          <a:ln w="19050"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 i="1">
                <a:solidFill>
                  <a:srgbClr val="212529"/>
                </a:solidFill>
                <a:latin typeface="Comic Sans MS"/>
              </a:rPr>
              <a:t>One backbone → 9 capacity variants → validated (with retry loop) → 20 dataset rows.   75 backbones × this pipeline = 650 rows.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